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9000000" cx="14400000"/>
  <p:notesSz cx="6858000" cy="9144000"/>
  <p:embeddedFontLst>
    <p:embeddedFont>
      <p:font typeface="Libre Baskerville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Baskerville-regular.fntdata"/><Relationship Id="rId25" Type="http://schemas.openxmlformats.org/officeDocument/2006/relationships/slide" Target="slides/slide21.xml"/><Relationship Id="rId28" Type="http://schemas.openxmlformats.org/officeDocument/2006/relationships/font" Target="fonts/LibreBaskerville-italic.fntdata"/><Relationship Id="rId27" Type="http://schemas.openxmlformats.org/officeDocument/2006/relationships/font" Target="fonts/LibreBaskervill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ibreBaskervill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cffc9d037_0_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cffc9d03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cffc9d037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cffc9d037_0_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cffc9d03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cffc9d03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cffc9d037_0_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cffc9d037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cffc9d037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cffc9d037_0_4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cffc9d037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cffc9d037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cffc9d037_0_5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cffc9d03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cffc9d037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0a271c50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d0a271c5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d0a271c5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d0a271c50_0_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d0a271c5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d0a271c50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d0a271c50_0_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d0a271c50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d0a271c50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d0a271c50_1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d0a271c5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d0a271c5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d0a271c50_2_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d0a271c50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d0a271c50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d0a271c50_2_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d0a271c50_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d0a271c50_2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d0a271c50_2_2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d0a271c50_2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d0a271c50_2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d0a271c50_2_3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d0a271c50_2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d0a271c50_2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d0a271c50_2_4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d0a271c50_2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d0a271c50_2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d0a271c50_2_5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d0a271c50_2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d0a271c50_2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d0a271c50_2_7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d0a271c50_2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d0a271c50_2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d0a271c50_2_8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d0a271c50_2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dd0a271c50_2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d0a271c50_2_8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d0a271c50_2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d0a271c50_2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990000" y="479167"/>
            <a:ext cx="124200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538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990000" y="479167"/>
            <a:ext cx="124200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538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990000" y="2395833"/>
            <a:ext cx="124200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800000" y="1472917"/>
            <a:ext cx="108000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55950" lIns="111900" spcFirstLastPara="1" rIns="111900" wrap="square" tIns="559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45"/>
              <a:buFont typeface="Calibri"/>
              <a:buNone/>
              <a:defRPr sz="73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800000" y="4727084"/>
            <a:ext cx="10800000" cy="21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lvl="0" algn="ctr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938"/>
              <a:buNone/>
              <a:defRPr sz="2938"/>
            </a:lvl1pPr>
            <a:lvl2pPr lvl="1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None/>
              <a:defRPr sz="2448"/>
            </a:lvl2pPr>
            <a:lvl3pPr lvl="2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2203"/>
            </a:lvl3pPr>
            <a:lvl4pPr lvl="3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4pPr>
            <a:lvl5pPr lvl="4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5pPr>
            <a:lvl6pPr lvl="5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6pPr>
            <a:lvl7pPr lvl="6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7pPr>
            <a:lvl8pPr lvl="7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8pPr>
            <a:lvl9pPr lvl="8" algn="ctr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982500" y="2243751"/>
            <a:ext cx="124200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45"/>
              <a:buFont typeface="Calibri"/>
              <a:buNone/>
              <a:defRPr sz="734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982500" y="6022917"/>
            <a:ext cx="12420000" cy="19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rgbClr val="888888"/>
              </a:buClr>
              <a:buSzPts val="2938"/>
              <a:buNone/>
              <a:defRPr sz="2938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2448"/>
              <a:buNone/>
              <a:defRPr sz="2448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2203"/>
              <a:buNone/>
              <a:defRPr sz="220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1959"/>
              <a:buNone/>
              <a:defRPr sz="195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1959"/>
              <a:buNone/>
              <a:defRPr sz="195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1959"/>
              <a:buNone/>
              <a:defRPr sz="195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1959"/>
              <a:buNone/>
              <a:defRPr sz="195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1959"/>
              <a:buNone/>
              <a:defRPr sz="195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rgbClr val="888888"/>
              </a:buClr>
              <a:buSzPts val="1959"/>
              <a:buNone/>
              <a:defRPr sz="195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990000" y="479167"/>
            <a:ext cx="124200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538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990000" y="2395833"/>
            <a:ext cx="61200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7290000" y="2395833"/>
            <a:ext cx="61200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991876" y="479167"/>
            <a:ext cx="124200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538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991876" y="2206251"/>
            <a:ext cx="60918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5950" lIns="111900" spcFirstLastPara="1" rIns="111900" wrap="square" tIns="5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938"/>
              <a:buNone/>
              <a:defRPr b="1" sz="2938"/>
            </a:lvl1pPr>
            <a:lvl2pPr indent="-228600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None/>
              <a:defRPr b="1" sz="2448"/>
            </a:lvl2pPr>
            <a:lvl3pPr indent="-228600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b="1" sz="2203"/>
            </a:lvl3pPr>
            <a:lvl4pPr indent="-228600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4pPr>
            <a:lvl5pPr indent="-228600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5pPr>
            <a:lvl6pPr indent="-228600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6pPr>
            <a:lvl7pPr indent="-228600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7pPr>
            <a:lvl8pPr indent="-228600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8pPr>
            <a:lvl9pPr indent="-228600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991876" y="3287500"/>
            <a:ext cx="6091800" cy="4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59" name="Google Shape;59;p8"/>
          <p:cNvSpPr txBox="1"/>
          <p:nvPr>
            <p:ph idx="3" type="body"/>
          </p:nvPr>
        </p:nvSpPr>
        <p:spPr>
          <a:xfrm>
            <a:off x="7290000" y="2206251"/>
            <a:ext cx="61218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5950" lIns="111900" spcFirstLastPara="1" rIns="111900" wrap="square" tIns="5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938"/>
              <a:buNone/>
              <a:defRPr b="1" sz="2938"/>
            </a:lvl1pPr>
            <a:lvl2pPr indent="-228600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None/>
              <a:defRPr b="1" sz="2448"/>
            </a:lvl2pPr>
            <a:lvl3pPr indent="-228600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b="1" sz="2203"/>
            </a:lvl3pPr>
            <a:lvl4pPr indent="-228600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4pPr>
            <a:lvl5pPr indent="-228600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5pPr>
            <a:lvl6pPr indent="-228600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6pPr>
            <a:lvl7pPr indent="-228600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7pPr>
            <a:lvl8pPr indent="-228600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8pPr>
            <a:lvl9pPr indent="-228600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b="1" sz="1959"/>
            </a:lvl9pPr>
          </a:lstStyle>
          <a:p/>
        </p:txBody>
      </p:sp>
      <p:sp>
        <p:nvSpPr>
          <p:cNvPr id="60" name="Google Shape;60;p8"/>
          <p:cNvSpPr txBox="1"/>
          <p:nvPr>
            <p:ph idx="4" type="body"/>
          </p:nvPr>
        </p:nvSpPr>
        <p:spPr>
          <a:xfrm>
            <a:off x="7290000" y="3287500"/>
            <a:ext cx="6121800" cy="4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991876" y="600000"/>
            <a:ext cx="46443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17"/>
              <a:buFont typeface="Calibri"/>
              <a:buNone/>
              <a:defRPr sz="391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6121876" y="1295833"/>
            <a:ext cx="7289700" cy="6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477341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3917"/>
              <a:buChar char="•"/>
              <a:defRPr sz="3917"/>
            </a:lvl1pPr>
            <a:lvl2pPr indent="-446249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3428"/>
              <a:buChar char="•"/>
              <a:defRPr sz="3428"/>
            </a:lvl2pPr>
            <a:lvl3pPr indent="-415155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938"/>
              <a:buChar char="•"/>
              <a:defRPr sz="2938"/>
            </a:lvl3pPr>
            <a:lvl4pPr indent="-384063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Char char="•"/>
              <a:defRPr sz="2448"/>
            </a:lvl4pPr>
            <a:lvl5pPr indent="-384063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Char char="•"/>
              <a:defRPr sz="2448"/>
            </a:lvl5pPr>
            <a:lvl6pPr indent="-384063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Char char="•"/>
              <a:defRPr sz="2448"/>
            </a:lvl6pPr>
            <a:lvl7pPr indent="-384063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Char char="•"/>
              <a:defRPr sz="2448"/>
            </a:lvl7pPr>
            <a:lvl8pPr indent="-384063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Char char="•"/>
              <a:defRPr sz="2448"/>
            </a:lvl8pPr>
            <a:lvl9pPr indent="-384063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Char char="•"/>
              <a:defRPr sz="2448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991876" y="2700000"/>
            <a:ext cx="4644300" cy="50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1pPr>
            <a:lvl2pPr indent="-228600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714"/>
              <a:buNone/>
              <a:defRPr sz="1714"/>
            </a:lvl2pPr>
            <a:lvl3pPr indent="-228600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469"/>
              <a:buNone/>
              <a:defRPr sz="1469"/>
            </a:lvl3pPr>
            <a:lvl4pPr indent="-228600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4pPr>
            <a:lvl5pPr indent="-228600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5pPr>
            <a:lvl6pPr indent="-228600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6pPr>
            <a:lvl7pPr indent="-228600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7pPr>
            <a:lvl8pPr indent="-228600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8pPr>
            <a:lvl9pPr indent="-228600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9pPr>
          </a:lstStyle>
          <a:p/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991876" y="600000"/>
            <a:ext cx="46443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17"/>
              <a:buFont typeface="Calibri"/>
              <a:buNone/>
              <a:defRPr sz="391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6121876" y="1295833"/>
            <a:ext cx="7289700" cy="63957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991876" y="2700000"/>
            <a:ext cx="4644300" cy="50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959"/>
              <a:buNone/>
              <a:defRPr sz="1959"/>
            </a:lvl1pPr>
            <a:lvl2pPr indent="-228600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714"/>
              <a:buNone/>
              <a:defRPr sz="1714"/>
            </a:lvl2pPr>
            <a:lvl3pPr indent="-228600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469"/>
              <a:buNone/>
              <a:defRPr sz="1469"/>
            </a:lvl3pPr>
            <a:lvl4pPr indent="-228600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4pPr>
            <a:lvl5pPr indent="-228600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5pPr>
            <a:lvl6pPr indent="-228600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6pPr>
            <a:lvl7pPr indent="-228600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7pPr>
            <a:lvl8pPr indent="-228600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8pPr>
            <a:lvl9pPr indent="-228600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1224"/>
              <a:buNone/>
              <a:defRPr sz="1224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990000" y="479167"/>
            <a:ext cx="124200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538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 rot="5400000">
            <a:off x="4344750" y="-958917"/>
            <a:ext cx="5710500" cy="12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0510" y="8116777"/>
            <a:ext cx="3809524" cy="79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 rot="5400000">
            <a:off x="8043900" y="2740267"/>
            <a:ext cx="7627200" cy="31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None/>
              <a:defRPr sz="5386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90" name="Google Shape;90;p12"/>
          <p:cNvSpPr txBox="1"/>
          <p:nvPr>
            <p:ph idx="1" type="body"/>
          </p:nvPr>
        </p:nvSpPr>
        <p:spPr>
          <a:xfrm rot="5400000">
            <a:off x="1743900" y="-274733"/>
            <a:ext cx="7627200" cy="9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368517" lvl="0" marL="45720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3428"/>
            </a:lvl1pPr>
            <a:lvl2pPr indent="-368517" lvl="1" marL="914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938"/>
            </a:lvl2pPr>
            <a:lvl3pPr indent="-368517" lvl="2" marL="1371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448"/>
            </a:lvl3pPr>
            <a:lvl4pPr indent="-368517" lvl="3" marL="1828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4pPr>
            <a:lvl5pPr indent="-368516" lvl="4" marL="22860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5pPr>
            <a:lvl6pPr indent="-368516" lvl="5" marL="27432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6pPr>
            <a:lvl7pPr indent="-368516" lvl="6" marL="32004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7pPr>
            <a:lvl8pPr indent="-368517" lvl="7" marL="36576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8pPr>
            <a:lvl9pPr indent="-368517" lvl="8" marL="411480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Char char="•"/>
              <a:defRPr sz="2203"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146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4"/>
              <a:buNone/>
              <a:defRPr sz="2203"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90000" y="479167"/>
            <a:ext cx="12420000" cy="17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86"/>
              <a:buFont typeface="Calibri"/>
              <a:buNone/>
              <a:defRPr b="0" i="0" sz="53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90000" y="2395833"/>
            <a:ext cx="12420000" cy="5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rmAutofit/>
          </a:bodyPr>
          <a:lstStyle>
            <a:lvl1pPr indent="-446249" lvl="0" marL="457200" marR="0" rtl="0" algn="l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3428"/>
              <a:buFont typeface="Arial"/>
              <a:buChar char="•"/>
              <a:defRPr b="0" i="0" sz="34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5155" lvl="1" marL="9144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938"/>
              <a:buFont typeface="Arial"/>
              <a:buChar char="•"/>
              <a:defRPr b="0" i="0" sz="29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4063" lvl="2" marL="13716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448"/>
              <a:buFont typeface="Arial"/>
              <a:buChar char="•"/>
              <a:defRPr b="0" i="0" sz="244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517" lvl="3" marL="18288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Char char="•"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516" lvl="4" marL="22860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Char char="•"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516" lvl="5" marL="27432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Char char="•"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516" lvl="6" marL="32004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Char char="•"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517" lvl="7" marL="36576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Char char="•"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517" lvl="8" marL="4114800" marR="0" rtl="0" algn="l">
              <a:lnSpc>
                <a:spcPct val="90000"/>
              </a:lnSpc>
              <a:spcBef>
                <a:spcPts val="612"/>
              </a:spcBef>
              <a:spcAft>
                <a:spcPts val="0"/>
              </a:spcAft>
              <a:buClr>
                <a:schemeClr val="dk1"/>
              </a:buClr>
              <a:buSzPts val="2203"/>
              <a:buFont typeface="Arial"/>
              <a:buChar char="•"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9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770000" y="8341667"/>
            <a:ext cx="486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4"/>
              <a:buFont typeface="Arial"/>
              <a:buNone/>
              <a:defRPr b="0" i="0" sz="22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170000" y="8341667"/>
            <a:ext cx="3240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9"/>
              <a:buFont typeface="Arial"/>
              <a:buNone/>
              <a:defRPr b="0" i="0" sz="14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" y="0"/>
            <a:ext cx="14398600" cy="87849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2920748" y="4879199"/>
            <a:ext cx="8558400" cy="3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3"/>
              <a:buFont typeface="Arial"/>
              <a:buNone/>
            </a:pPr>
            <a:r>
              <a:rPr b="1" i="0" lang="en-IN" sz="440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Management System</a:t>
            </a:r>
            <a:endParaRPr b="1" i="0" sz="44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67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Project — Database Design &amp; Analysis</a:t>
            </a:r>
            <a:endParaRPr b="1" sz="3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t/>
            </a:r>
            <a:endParaRPr b="1" sz="3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t/>
            </a:r>
            <a:endParaRPr b="1" sz="3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1469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lang="en-IN" sz="220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N.Pratyusha</a:t>
            </a:r>
            <a:endParaRPr sz="22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990000" y="319652"/>
            <a:ext cx="124200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5950" lIns="111900" spcFirstLastPara="1" rIns="111900" wrap="square" tIns="55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212"/>
              <a:buFont typeface="Arial"/>
              <a:buNone/>
            </a:pPr>
            <a:r>
              <a:t/>
            </a:r>
            <a:endParaRPr b="1" sz="39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212"/>
              <a:buFont typeface="Arial"/>
              <a:buNone/>
            </a:pPr>
            <a:r>
              <a:rPr b="1" lang="en-IN" sz="3917">
                <a:latin typeface="Arial"/>
                <a:ea typeface="Arial"/>
                <a:cs typeface="Arial"/>
                <a:sym typeface="Arial"/>
              </a:rPr>
              <a:t>Agenda :</a:t>
            </a:r>
            <a:endParaRPr b="1" sz="391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Clr>
                <a:srgbClr val="FF0000"/>
              </a:buClr>
              <a:buSzPts val="4848"/>
              <a:buFont typeface="Calibri"/>
              <a:buNone/>
            </a:pPr>
            <a:r>
              <a:t/>
            </a:r>
            <a:endParaRPr b="1" sz="3917">
              <a:solidFill>
                <a:srgbClr val="FF0000"/>
              </a:solidFill>
            </a:endParaRPr>
          </a:p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990000" y="1565157"/>
            <a:ext cx="12420000" cy="6541200"/>
          </a:xfrm>
          <a:prstGeom prst="rect">
            <a:avLst/>
          </a:prstGeom>
        </p:spPr>
        <p:txBody>
          <a:bodyPr anchorCtr="0" anchor="t" bIns="111900" lIns="111900" spcFirstLastPara="1" rIns="111900" wrap="square" tIns="111900">
            <a:normAutofit/>
          </a:bodyPr>
          <a:lstStyle/>
          <a:p>
            <a:pPr indent="0" lvl="0" marL="0" rtl="0" algn="l"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lang="en-IN" sz="3428"/>
              <a:t>1. Domain &amp; objective</a:t>
            </a:r>
            <a:endParaRPr sz="3428"/>
          </a:p>
          <a:p>
            <a:pPr indent="0" lvl="0" marL="0" rtl="0" algn="l"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lang="en-IN" sz="3428"/>
              <a:t>2. Dataset &amp; ER diagram</a:t>
            </a:r>
            <a:endParaRPr sz="3428"/>
          </a:p>
          <a:p>
            <a:pPr indent="0" lvl="0" marL="0" rtl="0" algn="l"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lang="en-IN" sz="3428"/>
              <a:t>3. Schema design </a:t>
            </a:r>
            <a:endParaRPr sz="3428"/>
          </a:p>
          <a:p>
            <a:pPr indent="0" lvl="0" marL="0" rtl="0" algn="l"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lang="en-IN" sz="3428"/>
              <a:t>4. Analysis results</a:t>
            </a:r>
            <a:endParaRPr sz="3428"/>
          </a:p>
          <a:p>
            <a:pPr indent="0" lvl="0" marL="1119334" rtl="0" algn="l">
              <a:spcBef>
                <a:spcPts val="1224"/>
              </a:spcBef>
              <a:spcAft>
                <a:spcPts val="0"/>
              </a:spcAft>
              <a:buNone/>
            </a:pPr>
            <a:r>
              <a:rPr lang="en-IN" sz="3428"/>
              <a:t>   - Employee insights</a:t>
            </a:r>
            <a:endParaRPr sz="3428"/>
          </a:p>
          <a:p>
            <a:pPr indent="0" lvl="0" marL="1119334" rtl="0" algn="l">
              <a:spcBef>
                <a:spcPts val="1224"/>
              </a:spcBef>
              <a:spcAft>
                <a:spcPts val="0"/>
              </a:spcAft>
              <a:buNone/>
            </a:pPr>
            <a:r>
              <a:rPr lang="en-IN" sz="3428"/>
              <a:t>   - Job role &amp; department</a:t>
            </a:r>
            <a:endParaRPr sz="3428"/>
          </a:p>
          <a:p>
            <a:pPr indent="0" lvl="0" marL="1119334" rtl="0" algn="l">
              <a:spcBef>
                <a:spcPts val="1224"/>
              </a:spcBef>
              <a:spcAft>
                <a:spcPts val="0"/>
              </a:spcAft>
              <a:buNone/>
            </a:pPr>
            <a:r>
              <a:rPr lang="en-IN" sz="3428"/>
              <a:t>   - Leave patterns</a:t>
            </a:r>
            <a:endParaRPr sz="3428"/>
          </a:p>
          <a:p>
            <a:pPr indent="0" lvl="0" marL="1119334" rtl="0" algn="l">
              <a:spcBef>
                <a:spcPts val="1224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lang="en-IN" sz="3428"/>
              <a:t>   - Payroll &amp; compensation</a:t>
            </a:r>
            <a:endParaRPr sz="3428"/>
          </a:p>
          <a:p>
            <a:pPr indent="0" lvl="0" marL="0" rtl="0" algn="l">
              <a:spcBef>
                <a:spcPts val="1224"/>
              </a:spcBef>
              <a:spcAft>
                <a:spcPts val="0"/>
              </a:spcAft>
              <a:buNone/>
            </a:pPr>
            <a:r>
              <a:rPr lang="en-IN" sz="3428"/>
              <a:t>5. Challenges &amp; conclusion</a:t>
            </a:r>
            <a:endParaRPr sz="342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990000" y="1017946"/>
            <a:ext cx="12420000" cy="10344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672">
                <a:latin typeface="Arial"/>
                <a:ea typeface="Arial"/>
                <a:cs typeface="Arial"/>
                <a:sym typeface="Arial"/>
              </a:rPr>
              <a:t>Domain Knowledge : </a:t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0"/>
              </a:spcBef>
              <a:spcAft>
                <a:spcPts val="0"/>
              </a:spcAft>
              <a:buNone/>
            </a:pPr>
            <a:r>
              <a:t/>
            </a:r>
            <a:endParaRPr b="1" sz="3672"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990000" y="2052428"/>
            <a:ext cx="12420000" cy="5948700"/>
          </a:xfrm>
          <a:prstGeom prst="rect">
            <a:avLst/>
          </a:prstGeom>
        </p:spPr>
        <p:txBody>
          <a:bodyPr anchorCtr="0" anchor="t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None/>
            </a:pPr>
            <a:r>
              <a:rPr b="1" lang="en-IN" sz="3183">
                <a:latin typeface="Arial"/>
                <a:ea typeface="Arial"/>
                <a:cs typeface="Arial"/>
                <a:sym typeface="Arial"/>
              </a:rPr>
              <a:t>What is EMS?</a:t>
            </a:r>
            <a:endParaRPr b="1" sz="3183">
              <a:latin typeface="Arial"/>
              <a:ea typeface="Arial"/>
              <a:cs typeface="Arial"/>
              <a:sym typeface="Arial"/>
            </a:endParaRPr>
          </a:p>
          <a:p>
            <a:pPr indent="-481935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SzPts val="3183"/>
              <a:buChar char="●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EMS centralizes employee-related information for day-to-day HR operations.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-481935" lvl="0" marL="55966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83"/>
              <a:buChar char="●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Tracks: employee profile, job role &amp; department, pay structure, leave records, qualifications.</a:t>
            </a:r>
            <a:r>
              <a:rPr lang="en-IN" sz="134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3183">
                <a:latin typeface="Arial"/>
                <a:ea typeface="Arial"/>
                <a:cs typeface="Arial"/>
                <a:sym typeface="Arial"/>
              </a:rPr>
              <a:t>This system allows for efficient tracking of employee details, job assignments, qualifications, and performance metrics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-481935" lvl="0" marL="55966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83"/>
              <a:buChar char="●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Enables reporting: headcount, compensation distribution, payroll processing, leave impact.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49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t/>
            </a:r>
            <a:endParaRPr b="1" sz="3183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990000" y="267946"/>
            <a:ext cx="12420000" cy="12933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212"/>
              <a:buFont typeface="Arial"/>
              <a:buNone/>
            </a:pPr>
            <a:r>
              <a:rPr b="1" lang="en-IN" sz="3672">
                <a:latin typeface="Arial"/>
                <a:ea typeface="Arial"/>
                <a:cs typeface="Arial"/>
                <a:sym typeface="Arial"/>
              </a:rPr>
              <a:t>Problem Statement &amp; Objectives :</a:t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0"/>
              </a:spcBef>
              <a:spcAft>
                <a:spcPts val="0"/>
              </a:spcAft>
              <a:buSzPts val="1212"/>
              <a:buNone/>
            </a:pPr>
            <a:r>
              <a:t/>
            </a:r>
            <a:endParaRPr sz="3672"/>
          </a:p>
        </p:txBody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990000" y="1224836"/>
            <a:ext cx="12420000" cy="6881100"/>
          </a:xfrm>
          <a:prstGeom prst="rect">
            <a:avLst/>
          </a:prstGeom>
        </p:spPr>
        <p:txBody>
          <a:bodyPr anchorCtr="0" anchor="t" bIns="111900" lIns="111900" spcFirstLastPara="1" rIns="111900" wrap="square" tIns="111900">
            <a:normAutofit/>
          </a:bodyPr>
          <a:lstStyle/>
          <a:p>
            <a:pPr indent="-481935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SzPts val="3183"/>
              <a:buChar char="●"/>
            </a:pPr>
            <a:r>
              <a:rPr b="1" lang="en-IN" sz="3183"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IN" sz="3183">
                <a:latin typeface="Arial"/>
                <a:ea typeface="Arial"/>
                <a:cs typeface="Arial"/>
                <a:sym typeface="Arial"/>
              </a:rPr>
              <a:t> Build an Employee Management System database to store and manage employee, job, payroll, leave, and qualification data with integrity.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0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b="1" sz="3183">
              <a:latin typeface="Arial"/>
              <a:ea typeface="Arial"/>
              <a:cs typeface="Arial"/>
              <a:sym typeface="Arial"/>
            </a:endParaRPr>
          </a:p>
          <a:p>
            <a:pPr indent="-481935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SzPts val="3183"/>
              <a:buChar char="●"/>
            </a:pPr>
            <a:r>
              <a:rPr b="1" lang="en-IN" sz="3183">
                <a:latin typeface="Arial"/>
                <a:ea typeface="Arial"/>
                <a:cs typeface="Arial"/>
                <a:sym typeface="Arial"/>
              </a:rPr>
              <a:t>Objectives:</a:t>
            </a:r>
            <a:endParaRPr b="1" sz="3183">
              <a:latin typeface="Arial"/>
              <a:ea typeface="Arial"/>
              <a:cs typeface="Arial"/>
              <a:sym typeface="Arial"/>
            </a:endParaRPr>
          </a:p>
          <a:p>
            <a:pPr indent="-481936" lvl="1" marL="111933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83"/>
              <a:buChar char="○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Design relational schema with correct primary/foreign keys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-481936" lvl="1" marL="111933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83"/>
              <a:buChar char="○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Enforce integrity using cascading and set-null rules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-481936" lvl="1" marL="111933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83"/>
              <a:buChar char="○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Analyse data using SQL queries and show outputs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-481936" lvl="1" marL="111933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83"/>
              <a:buChar char="○"/>
            </a:pPr>
            <a:r>
              <a:rPr lang="en-IN" sz="3183">
                <a:latin typeface="Arial"/>
                <a:ea typeface="Arial"/>
                <a:cs typeface="Arial"/>
                <a:sym typeface="Arial"/>
              </a:rPr>
              <a:t>Provide insights about employees, salaries, leaves, payroll</a:t>
            </a:r>
            <a:endParaRPr sz="318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18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4294967295" type="title"/>
          </p:nvPr>
        </p:nvSpPr>
        <p:spPr>
          <a:xfrm>
            <a:off x="990000" y="479167"/>
            <a:ext cx="12420000" cy="17397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4040">
                <a:latin typeface="Arial"/>
                <a:ea typeface="Arial"/>
                <a:cs typeface="Arial"/>
                <a:sym typeface="Arial"/>
              </a:rPr>
              <a:t>Dataset Overview :</a:t>
            </a:r>
            <a:endParaRPr b="1" sz="40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0"/>
              </a:spcBef>
              <a:spcAft>
                <a:spcPts val="0"/>
              </a:spcAft>
              <a:buNone/>
            </a:pPr>
            <a:r>
              <a:t/>
            </a:r>
            <a:endParaRPr b="1" sz="4040"/>
          </a:p>
        </p:txBody>
      </p:sp>
      <p:sp>
        <p:nvSpPr>
          <p:cNvPr id="126" name="Google Shape;126;p17"/>
          <p:cNvSpPr/>
          <p:nvPr/>
        </p:nvSpPr>
        <p:spPr>
          <a:xfrm>
            <a:off x="1140502" y="1871391"/>
            <a:ext cx="3910200" cy="24054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JobDepartment:</a:t>
            </a:r>
            <a:r>
              <a:rPr lang="en-IN" sz="3060">
                <a:solidFill>
                  <a:schemeClr val="dk1"/>
                </a:solidFill>
              </a:rPr>
              <a:t> departments + job roles + salary ranges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865472" y="1871391"/>
            <a:ext cx="3910200" cy="24054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SalaryBonus:</a:t>
            </a:r>
            <a:r>
              <a:rPr lang="en-IN" sz="3060">
                <a:solidFill>
                  <a:schemeClr val="dk1"/>
                </a:solidFill>
              </a:rPr>
              <a:t> salary/annual/bonus per role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10311201" y="1742060"/>
            <a:ext cx="3701100" cy="24054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Employee:</a:t>
            </a:r>
            <a:r>
              <a:rPr lang="en-IN" sz="3060">
                <a:solidFill>
                  <a:schemeClr val="dk1"/>
                </a:solidFill>
              </a:rPr>
              <a:t> employee master data + role mapping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1256900" y="5104134"/>
            <a:ext cx="3910200" cy="27414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Qualification:</a:t>
            </a:r>
            <a:r>
              <a:rPr lang="en-IN" sz="3060">
                <a:solidFill>
                  <a:schemeClr val="dk1"/>
                </a:solidFill>
              </a:rPr>
              <a:t> qualifications and role requirements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958632" y="5155873"/>
            <a:ext cx="3910200" cy="26895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Leaves:</a:t>
            </a:r>
            <a:r>
              <a:rPr lang="en-IN" sz="3060">
                <a:solidFill>
                  <a:schemeClr val="dk1"/>
                </a:solidFill>
              </a:rPr>
              <a:t> leave dates and reasons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0381033" y="5155873"/>
            <a:ext cx="3631200" cy="26895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Payroll:</a:t>
            </a:r>
            <a:r>
              <a:rPr lang="en-IN" sz="3060">
                <a:solidFill>
                  <a:schemeClr val="dk1"/>
                </a:solidFill>
              </a:rPr>
              <a:t> payroll records and computed totals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idx="4294967295" type="title"/>
          </p:nvPr>
        </p:nvSpPr>
        <p:spPr>
          <a:xfrm>
            <a:off x="990000" y="242060"/>
            <a:ext cx="12420000" cy="11121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490"/>
              </a:spcAft>
              <a:buNone/>
            </a:pPr>
            <a:r>
              <a:rPr b="1" lang="en-IN" sz="3672">
                <a:latin typeface="Arial"/>
                <a:ea typeface="Arial"/>
                <a:cs typeface="Arial"/>
                <a:sym typeface="Arial"/>
              </a:rPr>
              <a:t>ER Diagram &amp; Relationships : </a:t>
            </a:r>
            <a:endParaRPr sz="3672"/>
          </a:p>
        </p:txBody>
      </p:sp>
      <p:sp>
        <p:nvSpPr>
          <p:cNvPr id="138" name="Google Shape;138;p18"/>
          <p:cNvSpPr txBox="1"/>
          <p:nvPr>
            <p:ph idx="4294967295" type="body"/>
          </p:nvPr>
        </p:nvSpPr>
        <p:spPr>
          <a:xfrm>
            <a:off x="990000" y="1354265"/>
            <a:ext cx="6120000" cy="6752100"/>
          </a:xfrm>
          <a:prstGeom prst="rect">
            <a:avLst/>
          </a:prstGeom>
        </p:spPr>
        <p:txBody>
          <a:bodyPr anchorCtr="0" anchor="t" bIns="111900" lIns="111900" spcFirstLastPara="1" rIns="111900" wrap="square" tIns="111900">
            <a:noAutofit/>
          </a:bodyPr>
          <a:lstStyle/>
          <a:p>
            <a:pPr indent="0" lvl="0" marL="559666" rtl="0" algn="l">
              <a:lnSpc>
                <a:spcPct val="9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1469"/>
              </a:spcBef>
              <a:spcAft>
                <a:spcPts val="0"/>
              </a:spcAft>
              <a:buSzPts val="2448"/>
              <a:buChar char="●"/>
            </a:pPr>
            <a:r>
              <a:rPr lang="en-IN" sz="2448">
                <a:latin typeface="Arial"/>
                <a:ea typeface="Arial"/>
                <a:cs typeface="Arial"/>
                <a:sym typeface="Arial"/>
              </a:rPr>
              <a:t>JobDepartment → Employee (role assignment)</a:t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48"/>
              <a:buChar char="●"/>
            </a:pPr>
            <a:r>
              <a:rPr lang="en-IN" sz="2448">
                <a:latin typeface="Arial"/>
                <a:ea typeface="Arial"/>
                <a:cs typeface="Arial"/>
                <a:sym typeface="Arial"/>
              </a:rPr>
              <a:t>JobDepartment → SalaryBonus (pay mapped to role)</a:t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48"/>
              <a:buChar char="●"/>
            </a:pPr>
            <a:r>
              <a:rPr lang="en-IN" sz="2448">
                <a:latin typeface="Arial"/>
                <a:ea typeface="Arial"/>
                <a:cs typeface="Arial"/>
                <a:sym typeface="Arial"/>
              </a:rPr>
              <a:t>Employee → Qualification (employee skill records)</a:t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48"/>
              <a:buChar char="●"/>
            </a:pPr>
            <a:r>
              <a:rPr lang="en-IN" sz="2448">
                <a:latin typeface="Arial"/>
                <a:ea typeface="Arial"/>
                <a:cs typeface="Arial"/>
                <a:sym typeface="Arial"/>
              </a:rPr>
              <a:t>Employee → Leaves (employee leave history)</a:t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48"/>
              <a:buChar char="●"/>
            </a:pPr>
            <a:r>
              <a:rPr lang="en-IN" sz="2448">
                <a:latin typeface="Arial"/>
                <a:ea typeface="Arial"/>
                <a:cs typeface="Arial"/>
                <a:sym typeface="Arial"/>
              </a:rPr>
              <a:t>Payroll references Employee + JobDepartment + SalaryBonus (+ Leaves optionally)</a:t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48"/>
              <a:buChar char="●"/>
            </a:pPr>
            <a:r>
              <a:rPr b="1" lang="en-IN" sz="2448">
                <a:latin typeface="Arial"/>
                <a:ea typeface="Arial"/>
                <a:cs typeface="Arial"/>
                <a:sym typeface="Arial"/>
              </a:rPr>
              <a:t>Integrity rules:</a:t>
            </a:r>
            <a:r>
              <a:rPr lang="en-IN" sz="2448">
                <a:latin typeface="Arial"/>
                <a:ea typeface="Arial"/>
                <a:cs typeface="Arial"/>
                <a:sym typeface="Arial"/>
              </a:rPr>
              <a:t> </a:t>
            </a:r>
            <a:endParaRPr sz="2448">
              <a:latin typeface="Arial"/>
              <a:ea typeface="Arial"/>
              <a:cs typeface="Arial"/>
              <a:sym typeface="Arial"/>
            </a:endParaRPr>
          </a:p>
          <a:p>
            <a:pPr indent="-435296" lvl="0" marL="559666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48"/>
              <a:buChar char="●"/>
            </a:pPr>
            <a:r>
              <a:rPr lang="en-IN" sz="2448">
                <a:latin typeface="Arial"/>
                <a:ea typeface="Arial"/>
                <a:cs typeface="Arial"/>
                <a:sym typeface="Arial"/>
              </a:rPr>
              <a:t>ON DELETE CASCADE / ON UPDATE CASCADE; Payroll–Leaves uses </a:t>
            </a:r>
            <a:r>
              <a:rPr b="1" lang="en-IN" sz="2448">
                <a:latin typeface="Arial"/>
                <a:ea typeface="Arial"/>
                <a:cs typeface="Arial"/>
                <a:sym typeface="Arial"/>
              </a:rPr>
              <a:t>ON DELETE SET NULL</a:t>
            </a:r>
            <a:endParaRPr b="1" sz="244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2448"/>
          </a:p>
        </p:txBody>
      </p:sp>
      <p:pic>
        <p:nvPicPr>
          <p:cNvPr id="139" name="Google Shape;139;p18" title="ER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0000" y="0"/>
            <a:ext cx="11760000" cy="913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1260"/>
            <a:ext cx="8309469" cy="7707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title"/>
          </p:nvPr>
        </p:nvSpPr>
        <p:spPr>
          <a:xfrm>
            <a:off x="0" y="0"/>
            <a:ext cx="14400000" cy="11214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None/>
            </a:pPr>
            <a:r>
              <a:t/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672">
                <a:latin typeface="Arial"/>
                <a:ea typeface="Arial"/>
                <a:cs typeface="Arial"/>
                <a:sym typeface="Arial"/>
              </a:rPr>
              <a:t>Employee Insights :(department ,no of employee,Total Salary)</a:t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0"/>
              </a:spcBef>
              <a:spcAft>
                <a:spcPts val="0"/>
              </a:spcAft>
              <a:buNone/>
            </a:pPr>
            <a:r>
              <a:t/>
            </a:r>
            <a:endParaRPr sz="3672"/>
          </a:p>
        </p:txBody>
      </p:sp>
      <p:sp>
        <p:nvSpPr>
          <p:cNvPr id="147" name="Google Shape;147;p19"/>
          <p:cNvSpPr/>
          <p:nvPr/>
        </p:nvSpPr>
        <p:spPr>
          <a:xfrm>
            <a:off x="9100866" y="1535171"/>
            <a:ext cx="4980900" cy="1810500"/>
          </a:xfrm>
          <a:prstGeom prst="rect">
            <a:avLst/>
          </a:prstGeom>
          <a:solidFill>
            <a:schemeClr val="lt1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1469"/>
              </a:spcAft>
              <a:buNone/>
            </a:pPr>
            <a:r>
              <a:rPr b="1" lang="en-IN" sz="3060">
                <a:solidFill>
                  <a:schemeClr val="dk1"/>
                </a:solidFill>
              </a:rPr>
              <a:t>Unique employees in the system:</a:t>
            </a:r>
            <a:r>
              <a:rPr lang="en-IN" sz="3060">
                <a:solidFill>
                  <a:schemeClr val="dk1"/>
                </a:solidFill>
              </a:rPr>
              <a:t> 60</a:t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9147402" y="3526542"/>
            <a:ext cx="4980900" cy="2301300"/>
          </a:xfrm>
          <a:prstGeom prst="rect">
            <a:avLst/>
          </a:prstGeom>
          <a:solidFill>
            <a:schemeClr val="lt1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1347"/>
              <a:buFont typeface="Arial"/>
              <a:buNone/>
            </a:pPr>
            <a:r>
              <a:rPr b="1" lang="en-IN" sz="3060">
                <a:solidFill>
                  <a:schemeClr val="dk1"/>
                </a:solidFill>
              </a:rPr>
              <a:t>Total salary expenditure (annual + bonus):</a:t>
            </a:r>
            <a:r>
              <a:rPr lang="en-IN" sz="3060">
                <a:solidFill>
                  <a:schemeClr val="dk1"/>
                </a:solidFill>
              </a:rPr>
              <a:t> 52,482,700.00</a:t>
            </a:r>
            <a:endParaRPr sz="306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325866" y="242060"/>
            <a:ext cx="5310600" cy="1422600"/>
          </a:xfrm>
          <a:prstGeom prst="rect">
            <a:avLst/>
          </a:prstGeom>
        </p:spPr>
        <p:txBody>
          <a:bodyPr anchorCtr="0" anchor="b" bIns="111900" lIns="111900" spcFirstLastPara="1" rIns="111900" wrap="square" tIns="1119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ct val="34708"/>
              <a:buFont typeface="Arial"/>
              <a:buNone/>
            </a:pPr>
            <a:r>
              <a:rPr b="1" lang="en-IN" sz="3672">
                <a:latin typeface="Arial"/>
                <a:ea typeface="Arial"/>
                <a:cs typeface="Arial"/>
                <a:sym typeface="Arial"/>
              </a:rPr>
              <a:t>Salary insights :</a:t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0"/>
              </a:spcBef>
              <a:spcAft>
                <a:spcPts val="0"/>
              </a:spcAft>
              <a:buNone/>
            </a:pPr>
            <a:r>
              <a:t/>
            </a:r>
            <a:endParaRPr sz="3672"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7285335" y="242060"/>
            <a:ext cx="6796800" cy="7449600"/>
          </a:xfrm>
          <a:prstGeom prst="rect">
            <a:avLst/>
          </a:prstGeom>
        </p:spPr>
        <p:txBody>
          <a:bodyPr anchorCtr="0" anchor="t" bIns="111900" lIns="111900" spcFirstLastPara="1" rIns="111900" wrap="square" tIns="111900">
            <a:normAutofit/>
          </a:bodyPr>
          <a:lstStyle/>
          <a:p>
            <a:pPr indent="0" lvl="0" marL="559666" rtl="0" algn="l">
              <a:lnSpc>
                <a:spcPct val="115000"/>
              </a:lnSpc>
              <a:spcBef>
                <a:spcPts val="1469"/>
              </a:spcBef>
              <a:spcAft>
                <a:spcPts val="1469"/>
              </a:spcAft>
              <a:buNone/>
            </a:pPr>
            <a:r>
              <a:rPr lang="en-IN" sz="306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Who are the top 5 highest-paid employees?</a:t>
            </a:r>
            <a:endParaRPr sz="3060"/>
          </a:p>
        </p:txBody>
      </p:sp>
      <p:sp>
        <p:nvSpPr>
          <p:cNvPr id="156" name="Google Shape;156;p20"/>
          <p:cNvSpPr txBox="1"/>
          <p:nvPr>
            <p:ph idx="2" type="body"/>
          </p:nvPr>
        </p:nvSpPr>
        <p:spPr>
          <a:xfrm>
            <a:off x="325866" y="1379987"/>
            <a:ext cx="6610200" cy="7086900"/>
          </a:xfrm>
          <a:prstGeom prst="rect">
            <a:avLst/>
          </a:prstGeom>
        </p:spPr>
        <p:txBody>
          <a:bodyPr anchorCtr="0" anchor="t" bIns="111900" lIns="111900" spcFirstLastPara="1" rIns="111900" wrap="square" tIns="11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rPr lang="en-IN" sz="2448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the average salary per department?</a:t>
            </a:r>
            <a:endParaRPr sz="2448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69"/>
              </a:spcBef>
              <a:spcAft>
                <a:spcPts val="1469"/>
              </a:spcAft>
              <a:buNone/>
            </a:pPr>
            <a:r>
              <a:t/>
            </a:r>
            <a:endParaRPr sz="2448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0" title="EI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48174" y="2102000"/>
            <a:ext cx="10091750" cy="6235300"/>
          </a:xfrm>
          <a:prstGeom prst="rect">
            <a:avLst/>
          </a:prstGeom>
          <a:noFill/>
          <a:ln cap="flat" cmpd="sng" w="11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20" title="EI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8750" y="1561025"/>
            <a:ext cx="10368076" cy="6491399"/>
          </a:xfrm>
          <a:prstGeom prst="rect">
            <a:avLst/>
          </a:prstGeom>
          <a:noFill/>
          <a:ln cap="flat" cmpd="sng" w="11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idx="4294967295" type="title"/>
          </p:nvPr>
        </p:nvSpPr>
        <p:spPr>
          <a:xfrm>
            <a:off x="0" y="0"/>
            <a:ext cx="14400000" cy="10695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None/>
            </a:pPr>
            <a:r>
              <a:t/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203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rPr b="1" lang="en-IN" sz="3672">
                <a:latin typeface="Arial"/>
                <a:ea typeface="Arial"/>
                <a:cs typeface="Arial"/>
                <a:sym typeface="Arial"/>
              </a:rPr>
              <a:t>Job Role &amp; Department Analysis :</a:t>
            </a:r>
            <a:endParaRPr b="1" sz="36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90"/>
              </a:spcBef>
              <a:spcAft>
                <a:spcPts val="0"/>
              </a:spcAft>
              <a:buNone/>
            </a:pPr>
            <a:r>
              <a:t/>
            </a:r>
            <a:endParaRPr sz="3672"/>
          </a:p>
        </p:txBody>
      </p:sp>
      <p:sp>
        <p:nvSpPr>
          <p:cNvPr id="165" name="Google Shape;165;p21"/>
          <p:cNvSpPr/>
          <p:nvPr/>
        </p:nvSpPr>
        <p:spPr>
          <a:xfrm>
            <a:off x="290994" y="1760892"/>
            <a:ext cx="13034400" cy="8520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2448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435296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2448"/>
              <a:buChar char="●"/>
            </a:pPr>
            <a:r>
              <a:rPr lang="en-IN" sz="3060">
                <a:solidFill>
                  <a:schemeClr val="dk1"/>
                </a:solidFill>
                <a:highlight>
                  <a:srgbClr val="FFFFFF"/>
                </a:highlight>
              </a:rPr>
              <a:t>How many different job roles exist in each department?</a:t>
            </a:r>
            <a:br>
              <a:rPr lang="en-IN" sz="2448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269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302598" y="3304068"/>
            <a:ext cx="13011000" cy="10695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-474162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3060"/>
              <a:buChar char="●"/>
            </a:pPr>
            <a:r>
              <a:rPr lang="en-IN" sz="3060">
                <a:solidFill>
                  <a:schemeClr val="dk1"/>
                </a:solidFill>
                <a:highlight>
                  <a:srgbClr val="FFFFFF"/>
                </a:highlight>
              </a:rPr>
              <a:t>What is the average salary range per department?</a:t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302598" y="5097933"/>
            <a:ext cx="13034400" cy="10695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-474162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3060"/>
              <a:buChar char="●"/>
            </a:pPr>
            <a:r>
              <a:rPr lang="en-IN" sz="3060">
                <a:solidFill>
                  <a:schemeClr val="dk1"/>
                </a:solidFill>
                <a:highlight>
                  <a:srgbClr val="FFFFFF"/>
                </a:highlight>
              </a:rPr>
              <a:t>Which job roles offer the highest salary?</a:t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02598" y="6804823"/>
            <a:ext cx="13034400" cy="8520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474162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3060"/>
              <a:buChar char="●"/>
            </a:pPr>
            <a:r>
              <a:rPr lang="en-IN" sz="3060">
                <a:solidFill>
                  <a:schemeClr val="dk1"/>
                </a:solidFill>
                <a:highlight>
                  <a:srgbClr val="FFFFFF"/>
                </a:highlight>
              </a:rPr>
              <a:t>Which departments have the highest total salary allocation?</a:t>
            </a:r>
            <a:endParaRPr sz="306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6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232766" y="319652"/>
            <a:ext cx="7006200" cy="2250000"/>
          </a:xfrm>
          <a:prstGeom prst="rect">
            <a:avLst/>
          </a:prstGeom>
          <a:solidFill>
            <a:schemeClr val="lt1"/>
          </a:solidFill>
          <a:ln cap="flat" cmpd="sng" w="11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</a:pPr>
            <a:r>
              <a:rPr b="1"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 per department (examples from output):</a:t>
            </a:r>
            <a:endParaRPr b="1" sz="220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750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2203"/>
              <a:buFont typeface="Times New Roman"/>
              <a:buChar char="●"/>
            </a:pPr>
            <a:r>
              <a:rPr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Finance: 9 roles</a:t>
            </a:r>
            <a:endParaRPr sz="220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750" lvl="0" marL="55966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Font typeface="Times New Roman"/>
              <a:buChar char="●"/>
            </a:pPr>
            <a:r>
              <a:rPr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Engineering: 7 roles</a:t>
            </a:r>
            <a:endParaRPr sz="220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750" lvl="0" marL="55966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Font typeface="Times New Roman"/>
              <a:buChar char="●"/>
            </a:pPr>
            <a:r>
              <a:rPr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HR: 7 roles</a:t>
            </a:r>
            <a:endParaRPr sz="220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7471565" y="319652"/>
            <a:ext cx="6750300" cy="2250000"/>
          </a:xfrm>
          <a:prstGeom prst="rect">
            <a:avLst/>
          </a:prstGeom>
          <a:solidFill>
            <a:schemeClr val="lt1"/>
          </a:solidFill>
          <a:ln cap="flat" cmpd="sng" w="11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-419750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Clr>
                <a:schemeClr val="dk1"/>
              </a:buClr>
              <a:buSzPts val="2203"/>
              <a:buChar char="●"/>
            </a:pPr>
            <a:r>
              <a:rPr b="1"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 salary range per department (highest shown):</a:t>
            </a:r>
            <a:r>
              <a:rPr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Legal (108,600.00)</a:t>
            </a:r>
            <a:endParaRPr sz="220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750" lvl="0" marL="55966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3"/>
              <a:buFont typeface="Times New Roman"/>
              <a:buChar char="●"/>
            </a:pPr>
            <a:r>
              <a:rPr lang="en-IN" sz="220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Insight: role variety helps explain differences in average salaries and allocation.</a:t>
            </a:r>
            <a:endParaRPr sz="220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220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2" title="j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85232" y="2724775"/>
            <a:ext cx="11540576" cy="6275174"/>
          </a:xfrm>
          <a:prstGeom prst="rect">
            <a:avLst/>
          </a:prstGeom>
          <a:solidFill>
            <a:schemeClr val="lt1"/>
          </a:solidFill>
          <a:ln cap="flat" cmpd="sng" w="11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22" title="j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630" y="2724775"/>
            <a:ext cx="10438876" cy="5432300"/>
          </a:xfrm>
          <a:prstGeom prst="rect">
            <a:avLst/>
          </a:prstGeom>
          <a:noFill/>
          <a:ln cap="flat" cmpd="sng" w="116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74486" y="164494"/>
            <a:ext cx="7001400" cy="1215300"/>
          </a:xfrm>
          <a:prstGeom prst="rect">
            <a:avLst/>
          </a:prstGeom>
          <a:solidFill>
            <a:schemeClr val="lt2"/>
          </a:solidFill>
          <a:ln cap="flat" cmpd="sng" w="11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925" lIns="105925" spcFirstLastPara="1" rIns="105925" wrap="square" tIns="10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90"/>
              </a:spcBef>
              <a:spcAft>
                <a:spcPts val="0"/>
              </a:spcAft>
              <a:buNone/>
            </a:pPr>
            <a:r>
              <a:t/>
            </a:r>
            <a:endParaRPr b="1" sz="289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39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9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salary role:</a:t>
            </a:r>
            <a:r>
              <a:rPr lang="en-IN" sz="289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Finance Director — 2,040,000.00</a:t>
            </a:r>
            <a:endParaRPr sz="289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390"/>
              </a:spcBef>
              <a:spcAft>
                <a:spcPts val="0"/>
              </a:spcAft>
              <a:buNone/>
            </a:pPr>
            <a:r>
              <a:t/>
            </a:r>
            <a:endParaRPr sz="289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7249650" y="164498"/>
            <a:ext cx="7001400" cy="1084200"/>
          </a:xfrm>
          <a:prstGeom prst="rect">
            <a:avLst/>
          </a:prstGeom>
          <a:solidFill>
            <a:schemeClr val="lt2"/>
          </a:solidFill>
          <a:ln cap="flat" cmpd="sng" w="11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925" lIns="105925" spcFirstLastPara="1" rIns="105925" wrap="square" tIns="10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90"/>
              </a:spcBef>
              <a:spcAft>
                <a:spcPts val="0"/>
              </a:spcAft>
              <a:buNone/>
            </a:pPr>
            <a:r>
              <a:t/>
            </a:r>
            <a:endParaRPr b="1" sz="289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390"/>
              </a:spcBef>
              <a:spcAft>
                <a:spcPts val="0"/>
              </a:spcAft>
              <a:buNone/>
            </a:pPr>
            <a:r>
              <a:rPr b="1" lang="en-IN" sz="289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total salary allocation dept:</a:t>
            </a:r>
            <a:r>
              <a:rPr lang="en-IN" sz="289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Finance — 7,812,000.00</a:t>
            </a:r>
            <a:endParaRPr sz="289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390"/>
              </a:spcBef>
              <a:spcAft>
                <a:spcPts val="0"/>
              </a:spcAft>
              <a:buNone/>
            </a:pPr>
            <a:r>
              <a:t/>
            </a:r>
            <a:endParaRPr sz="289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3" title="j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25449" y="1509325"/>
            <a:ext cx="11001374" cy="7376025"/>
          </a:xfrm>
          <a:prstGeom prst="rect">
            <a:avLst/>
          </a:prstGeom>
          <a:solidFill>
            <a:schemeClr val="lt1"/>
          </a:solidFill>
          <a:ln cap="flat" cmpd="sng" w="11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23" title="j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650" y="1509325"/>
            <a:ext cx="11973526" cy="6677600"/>
          </a:xfrm>
          <a:prstGeom prst="rect">
            <a:avLst/>
          </a:prstGeom>
          <a:solidFill>
            <a:schemeClr val="lt1"/>
          </a:solidFill>
          <a:ln cap="flat" cmpd="sng" w="110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idx="4294967295" type="title"/>
          </p:nvPr>
        </p:nvSpPr>
        <p:spPr>
          <a:xfrm>
            <a:off x="0" y="0"/>
            <a:ext cx="14400000" cy="1069500"/>
          </a:xfrm>
          <a:prstGeom prst="rect">
            <a:avLst/>
          </a:prstGeom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QUALIFICATION AND SKILLS ANALYSIS 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290994" y="1760892"/>
            <a:ext cx="13034400" cy="8520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559666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69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 How many employees have at least one qualification listed?</a:t>
            </a:r>
            <a:b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559666" rtl="0" algn="l">
              <a:lnSpc>
                <a:spcPct val="115000"/>
              </a:lnSpc>
              <a:spcBef>
                <a:spcPts val="1469"/>
              </a:spcBef>
              <a:spcAft>
                <a:spcPts val="1469"/>
              </a:spcAft>
              <a:buNone/>
            </a:pPr>
            <a:b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302598" y="3304068"/>
            <a:ext cx="13011000" cy="10695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Which positions require the most qualifications?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290898" y="5064758"/>
            <a:ext cx="13034400" cy="1069500"/>
          </a:xfrm>
          <a:prstGeom prst="rect">
            <a:avLst/>
          </a:prstGeom>
          <a:solidFill>
            <a:schemeClr val="lt2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900" lIns="111900" spcFirstLastPara="1" rIns="111900" wrap="square" tIns="11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Which employees have the highest number of qualifications?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5" title="q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88875" y="0"/>
            <a:ext cx="10333650" cy="411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25" title="q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001820" y="4250675"/>
            <a:ext cx="10333650" cy="45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25" title="q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5850" y="0"/>
            <a:ext cx="10485050" cy="79136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129300" y="190350"/>
            <a:ext cx="14043000" cy="957000"/>
          </a:xfrm>
          <a:prstGeom prst="rect">
            <a:avLst/>
          </a:prstGeom>
        </p:spPr>
        <p:txBody>
          <a:bodyPr anchorCtr="0" anchor="ctr" bIns="55950" lIns="111900" spcFirstLastPara="1" rIns="111900" wrap="square" tIns="559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LEAVE AND ABSENCE PATTERNS :</a:t>
            </a:r>
            <a:endParaRPr sz="3000"/>
          </a:p>
        </p:txBody>
      </p:sp>
      <p:sp>
        <p:nvSpPr>
          <p:cNvPr id="210" name="Google Shape;210;p26"/>
          <p:cNvSpPr/>
          <p:nvPr/>
        </p:nvSpPr>
        <p:spPr>
          <a:xfrm>
            <a:off x="155175" y="1147350"/>
            <a:ext cx="13810500" cy="116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 Which year had the most employees taking leaves?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232750" y="2647250"/>
            <a:ext cx="13732800" cy="116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What is the average number of leave days taken by its employees per department?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206900" y="4237623"/>
            <a:ext cx="13732800" cy="116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Which employees have taken the most leaves?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284475" y="5750775"/>
            <a:ext cx="13655100" cy="116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What is the total number of leave days taken company-wide?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284475" y="7276550"/>
            <a:ext cx="13655100" cy="116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How do leave days correlate with payroll amounts?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7" title="l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65675" y="0"/>
            <a:ext cx="10726025" cy="414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 title="l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377050" y="4147250"/>
            <a:ext cx="10437400" cy="47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 title="l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9650" y="0"/>
            <a:ext cx="11306249" cy="81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8" title="l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33875" y="0"/>
            <a:ext cx="16080425" cy="39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8" title="l-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33875" y="3733450"/>
            <a:ext cx="13723875" cy="575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129300" y="138625"/>
            <a:ext cx="14146500" cy="1008600"/>
          </a:xfrm>
          <a:prstGeom prst="rect">
            <a:avLst/>
          </a:prstGeom>
        </p:spPr>
        <p:txBody>
          <a:bodyPr anchorCtr="0" anchor="ctr" bIns="55950" lIns="111900" spcFirstLastPara="1" rIns="111900" wrap="square" tIns="559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PAYROLL AND COMPENSATION ANALYSIS :</a:t>
            </a:r>
            <a:endParaRPr sz="3000"/>
          </a:p>
        </p:txBody>
      </p:sp>
      <p:sp>
        <p:nvSpPr>
          <p:cNvPr id="236" name="Google Shape;236;p29"/>
          <p:cNvSpPr/>
          <p:nvPr/>
        </p:nvSpPr>
        <p:spPr>
          <a:xfrm>
            <a:off x="362075" y="1716200"/>
            <a:ext cx="13680900" cy="100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 What is the total monthly payroll processed?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362075" y="3397250"/>
            <a:ext cx="13758900" cy="100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 What is the average bonus given per department?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439650" y="4974825"/>
            <a:ext cx="13680900" cy="100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Which department receives the highest total bonuses?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9"/>
          <p:cNvSpPr/>
          <p:nvPr/>
        </p:nvSpPr>
        <p:spPr>
          <a:xfrm>
            <a:off x="439250" y="6267925"/>
            <a:ext cx="13758900" cy="126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What is the average value of </a:t>
            </a: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total_amount</a:t>
            </a:r>
            <a:r>
              <a:rPr lang="en-IN" sz="3000">
                <a:solidFill>
                  <a:schemeClr val="dk1"/>
                </a:solidFill>
                <a:highlight>
                  <a:srgbClr val="FFFFFF"/>
                </a:highlight>
              </a:rPr>
              <a:t> after considering leave deductions?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 title="p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14097601" cy="31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0" title="p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67925"/>
            <a:ext cx="13968299" cy="6163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1" title="p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-349200"/>
            <a:ext cx="14020024" cy="449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1" title="p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62750"/>
            <a:ext cx="11217600" cy="4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/>
        </p:nvSpPr>
        <p:spPr>
          <a:xfrm>
            <a:off x="336200" y="267925"/>
            <a:ext cx="13732800" cy="7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IN" sz="3000" u="sng"/>
              <a:t>Challenges:</a:t>
            </a:r>
            <a:endParaRPr b="1" sz="3000" u="sng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correct foreign key mapping across 6 tables</a:t>
            </a:r>
            <a:endParaRPr sz="3000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cascading updates/deletes vs set-null behavior</a:t>
            </a:r>
            <a:endParaRPr sz="3000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complex joins + CTEs + window functions</a:t>
            </a:r>
            <a:endParaRPr sz="3000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date format consistency for time analysis</a:t>
            </a:r>
            <a:endParaRPr sz="30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IN" sz="3000" u="sng"/>
              <a:t>Learnings:</a:t>
            </a:r>
            <a:endParaRPr b="1" sz="3000" u="sng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CTEs for readable multi-step queries</a:t>
            </a:r>
            <a:endParaRPr sz="3000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RANK() and window functions for “top” results</a:t>
            </a:r>
            <a:endParaRPr sz="3000"/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IN" sz="3000"/>
              <a:t>multi-table joins for payroll + leave impact</a:t>
            </a:r>
            <a:endParaRPr sz="30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7617" y="2428804"/>
            <a:ext cx="5274382" cy="33476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/>
        </p:nvSpPr>
        <p:spPr>
          <a:xfrm>
            <a:off x="1470000" y="3933333"/>
            <a:ext cx="43251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55950" lIns="111900" spcFirstLastPara="1" rIns="111900" wrap="square" tIns="55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86"/>
              <a:buFont typeface="Libre Baskerville"/>
              <a:buNone/>
            </a:pPr>
            <a:r>
              <a:rPr b="0" i="0" lang="en-IN" sz="5386" u="none" cap="none" strike="noStrik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b="0" i="0" sz="22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